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2"/>
    <p:restoredTop sz="94637"/>
  </p:normalViewPr>
  <p:slideViewPr>
    <p:cSldViewPr snapToGrid="0">
      <p:cViewPr varScale="1">
        <p:scale>
          <a:sx n="181" d="100"/>
          <a:sy n="181" d="100"/>
        </p:scale>
        <p:origin x="192" y="1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EA100-A0D9-BFD5-9E1B-AA6815134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E2AA4F-CB6A-5344-A066-5263965EB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3940A-E8B1-0907-22F6-E1B05238E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2754F-DC4D-F568-4E51-85C21575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67C72-EEAC-013C-A796-E6223983F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70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DFB52-D49B-7265-EE72-4B2B8B197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46BB0-5F1B-CD22-FF32-A981B1291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E309-14EE-F5E5-CFDD-B1A733E25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A369-2CFE-CC3B-E138-439F39AC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CE8C2-8CB0-F5EC-23C3-D0F3F80B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39B3-0D33-678F-15A6-08DF435C1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20DBB-935C-47F2-1AC4-3AC8C2D8A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DB13C-C4ED-105F-3F8A-9EF6E81B4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091F6-C9C4-7D6F-1BF4-5B9A13B9A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DD0F-BF60-9B95-8F9A-1C131F56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0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B98A-F035-9727-5A1E-8DB29E78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8AC3D-B3FB-F0D1-5876-B32D3F91F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4D5E0-52E1-7119-2E81-D243DE41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9CD6D-C32E-118E-C5D4-E3B5DBAC6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1335B-5011-47D0-BB9A-EC2DA69B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B6756-DC28-19BD-3E4C-26C9E39F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6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FC10F-6199-84EB-CF66-9ADC4A157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5B8DB-3B62-A810-700E-9F2636464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1DF97-2CF6-9721-E8FB-B4166DDE4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E15AE1-6A3F-252E-1DD0-D2949938D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1C57-847C-2D6C-B588-356677D45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C4C17B-9423-0A1C-8A7B-6C25498D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187E2-B62C-EA82-5824-1DBDC4B29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63FEA-4AFF-D55C-A2B9-92E0AC81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14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0137-18BD-5D52-F70F-6FC792AB9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4737C-B553-8687-EF53-BDB5194C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D97B8C-F5A1-76F6-687C-D7936FFA0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24F586-FCF3-7843-3AAB-66D260EE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4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2E3630-F658-7A96-AF90-B877C2F5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52106-C8BB-38F1-6BED-5451DF7B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501F4-1B8C-C137-FC66-9C3395AF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75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BCDA-11CC-F166-EE78-BE5B403B4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175B-647C-E70F-4412-95B8BFD80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30C1C-627E-C809-0E8A-C8C3E8FB5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0372A-E7F1-BCF4-F99A-15A4565C4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AD962-5BED-7CD2-6000-6195B1C2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5333-08DA-D4A6-8462-E055BF05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75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766D-385C-9C44-E969-D472C4C0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3D8D38-2099-7755-57B7-5F85B33F6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8C980-1D6B-8F9E-815B-6D20F0309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DF7EF-9B22-3A1C-D90A-DCBAC9FA7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A2F8E-2EFA-5312-B2F0-FCE87831C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A9B0C-DB07-E3A6-A630-DCBA49D0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8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573B-DA6A-4DE8-C5AE-7590AF0D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F306B-BBF7-E280-A8D8-7A0497D3E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4B672-5877-B712-90D1-6B7828AB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856E3-0569-F82B-C144-563F93ED9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FD99E-A178-58C0-37D0-B82B118A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3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4091D3-365F-D926-D278-1BFE64DA8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057078-F1E7-3C4D-1E04-681D9C366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5CCDD-FF37-B57A-2937-864AC901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4770D-AB90-B061-F64F-2924979E5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40E98-9ADC-F5DD-75AE-3DE72981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6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E9CF03-134E-9487-63A9-9ED77B889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B1539-4C28-9860-7586-C106213C9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4D031-BFC5-2CE2-9655-5B97F23D0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CE9EA-4F6C-374D-BDF0-C04A1559B87F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79A16-91C6-4A11-C172-C50B24E9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1569-85BF-7A98-732F-B4D63C98C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72991-E951-A247-B039-DAC75CAB8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8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B923323-C73A-246E-F4B9-87E2386B62B5}"/>
              </a:ext>
            </a:extLst>
          </p:cNvPr>
          <p:cNvSpPr/>
          <p:nvPr/>
        </p:nvSpPr>
        <p:spPr>
          <a:xfrm>
            <a:off x="4321940" y="63062"/>
            <a:ext cx="6007628" cy="3695437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 descr="Female Profile with solid fill">
            <a:extLst>
              <a:ext uri="{FF2B5EF4-FFF2-40B4-BE49-F238E27FC236}">
                <a16:creationId xmlns:a16="http://schemas.microsoft.com/office/drawing/2014/main" id="{887E65F6-396B-0448-A1C3-4AF74BD928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7933" y="2971800"/>
            <a:ext cx="914400" cy="914400"/>
          </a:xfrm>
          <a:prstGeom prst="rect">
            <a:avLst/>
          </a:prstGeom>
        </p:spPr>
      </p:pic>
      <p:pic>
        <p:nvPicPr>
          <p:cNvPr id="5" name="Graphic 4" descr="Female Profile with solid fill">
            <a:extLst>
              <a:ext uri="{FF2B5EF4-FFF2-40B4-BE49-F238E27FC236}">
                <a16:creationId xmlns:a16="http://schemas.microsoft.com/office/drawing/2014/main" id="{6231E4B4-BD55-DB8F-EA8C-F98C45BB1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5705" y="1057029"/>
            <a:ext cx="914400" cy="914400"/>
          </a:xfrm>
          <a:prstGeom prst="rect">
            <a:avLst/>
          </a:prstGeom>
        </p:spPr>
      </p:pic>
      <p:pic>
        <p:nvPicPr>
          <p:cNvPr id="6" name="Graphic 5" descr="Female Profile with solid fill">
            <a:extLst>
              <a:ext uri="{FF2B5EF4-FFF2-40B4-BE49-F238E27FC236}">
                <a16:creationId xmlns:a16="http://schemas.microsoft.com/office/drawing/2014/main" id="{B8827B50-0721-AFBB-9AAB-1AFF303C91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896" y="1096125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CFBC0-548C-1C30-7244-D0DA3070AC8F}"/>
                  </a:ext>
                </a:extLst>
              </p:cNvPr>
              <p:cNvSpPr txBox="1"/>
              <p:nvPr/>
            </p:nvSpPr>
            <p:spPr>
              <a:xfrm>
                <a:off x="924608" y="1937013"/>
                <a:ext cx="2474737" cy="954107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 lang="en-US" sz="2800" b="0" i="1" baseline="30000" smtClean="0">
                          <a:latin typeface="Cambria Math" panose="02040503050406030204" pitchFamily="18" charset="0"/>
                        </a:rPr>
                        <m:t>blind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en-US" sz="2800" dirty="0"/>
              </a:p>
              <a:p>
                <a:r>
                  <a:rPr lang="en-US" sz="2800" dirty="0"/>
                  <a:t>{ 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(b)</a:t>
                </a:r>
                <a:r>
                  <a:rPr lang="en-US" sz="2800" baseline="30000" dirty="0"/>
                  <a:t>r</a:t>
                </a:r>
                <a14:m>
                  <m:oMath xmlns:m="http://schemas.openxmlformats.org/officeDocument/2006/math">
                    <m:r>
                      <a:rPr lang="en-US" sz="2800" b="0" i="0" baseline="30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,… }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98CFBC0-548C-1C30-7244-D0DA3070A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8" y="1937013"/>
                <a:ext cx="2474737" cy="954107"/>
              </a:xfrm>
              <a:prstGeom prst="rect">
                <a:avLst/>
              </a:prstGeom>
              <a:blipFill>
                <a:blip r:embed="rId3"/>
                <a:stretch>
                  <a:fillRect l="-5076" b="-16883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D58B7DA3-CC76-EB69-E326-024E7240144D}"/>
              </a:ext>
            </a:extLst>
          </p:cNvPr>
          <p:cNvSpPr/>
          <p:nvPr/>
        </p:nvSpPr>
        <p:spPr>
          <a:xfrm>
            <a:off x="7154486" y="129855"/>
            <a:ext cx="1442434" cy="1129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F</a:t>
            </a:r>
            <a:r>
              <a:rPr lang="en-US" sz="2800" baseline="-25000" dirty="0" err="1"/>
              <a:t>AuthOPRF</a:t>
            </a:r>
            <a:endParaRPr lang="en-US" sz="2800" dirty="0"/>
          </a:p>
        </p:txBody>
      </p:sp>
      <p:pic>
        <p:nvPicPr>
          <p:cNvPr id="12" name="Graphic 1" descr="Database with solid fill">
            <a:extLst>
              <a:ext uri="{FF2B5EF4-FFF2-40B4-BE49-F238E27FC236}">
                <a16:creationId xmlns:a16="http://schemas.microsoft.com/office/drawing/2014/main" id="{F8590D87-99FB-2A95-4669-96765A7BD5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5879" y="2620034"/>
            <a:ext cx="914400" cy="914400"/>
          </a:xfrm>
          <a:prstGeom prst="rect">
            <a:avLst/>
          </a:prstGeom>
        </p:spPr>
      </p:pic>
      <p:pic>
        <p:nvPicPr>
          <p:cNvPr id="13" name="Graphic 2" descr="Programmer male with solid fill">
            <a:extLst>
              <a:ext uri="{FF2B5EF4-FFF2-40B4-BE49-F238E27FC236}">
                <a16:creationId xmlns:a16="http://schemas.microsoft.com/office/drawing/2014/main" id="{C9B15D96-6621-B6E1-3329-C93BFE0C9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0348" y="2620034"/>
            <a:ext cx="914400" cy="914400"/>
          </a:xfrm>
          <a:prstGeom prst="rect">
            <a:avLst/>
          </a:prstGeom>
        </p:spPr>
      </p:pic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61FC1222-7519-A4A3-D6EE-510484280DA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86181" y="-1476227"/>
            <a:ext cx="1242330" cy="4992509"/>
          </a:xfrm>
          <a:prstGeom prst="curved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199E742-8A63-28E7-08AD-E82AEEE44773}"/>
              </a:ext>
            </a:extLst>
          </p:cNvPr>
          <p:cNvCxnSpPr>
            <a:cxnSpLocks/>
          </p:cNvCxnSpPr>
          <p:nvPr/>
        </p:nvCxnSpPr>
        <p:spPr>
          <a:xfrm flipH="1" flipV="1">
            <a:off x="7899588" y="1386738"/>
            <a:ext cx="1399410" cy="1105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19A375-1992-9FF3-DA65-3D0A1AD08029}"/>
              </a:ext>
            </a:extLst>
          </p:cNvPr>
          <p:cNvCxnSpPr>
            <a:cxnSpLocks/>
          </p:cNvCxnSpPr>
          <p:nvPr/>
        </p:nvCxnSpPr>
        <p:spPr>
          <a:xfrm flipV="1">
            <a:off x="6491779" y="1386738"/>
            <a:ext cx="1407809" cy="110580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2F61BE-37CA-5ECE-5D7E-6628DF9D25EE}"/>
                  </a:ext>
                </a:extLst>
              </p:cNvPr>
              <p:cNvSpPr txBox="1"/>
              <p:nvPr/>
            </p:nvSpPr>
            <p:spPr>
              <a:xfrm>
                <a:off x="8673034" y="1415713"/>
                <a:ext cx="12079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lient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2F61BE-37CA-5ECE-5D7E-6628DF9D2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034" y="1415713"/>
                <a:ext cx="1207959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54EB5-A547-DD90-0FC4-3CC3C34142BE}"/>
                  </a:ext>
                </a:extLst>
              </p:cNvPr>
              <p:cNvSpPr txBox="1"/>
              <p:nvPr/>
            </p:nvSpPr>
            <p:spPr>
              <a:xfrm>
                <a:off x="4306209" y="1413798"/>
                <a:ext cx="313208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{ …,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PRF</m:t>
                      </m:r>
                      <m:sSub>
                        <m:sSubPr>
                          <m:ctrlPr>
                            <a:rPr lang="en-US" sz="28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baseline="-2500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baseline="-2500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m:rPr>
                              <m:sty m:val="p"/>
                            </m:rPr>
                            <a:rPr lang="en-US" sz="2800" b="0" i="1" baseline="-25000" smtClean="0">
                              <a:latin typeface="Cambria Math" panose="02040503050406030204" pitchFamily="18" charset="0"/>
                            </a:rPr>
                            <m:t>lient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), 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D154EB5-A547-DD90-0FC4-3CC3C3414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6209" y="1413798"/>
                <a:ext cx="3132081" cy="523220"/>
              </a:xfrm>
              <a:prstGeom prst="rect">
                <a:avLst/>
              </a:prstGeom>
              <a:blipFill>
                <a:blip r:embed="rId7"/>
                <a:stretch>
                  <a:fillRect l="-806" r="-806" b="-2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C70D42-7F8F-8255-D347-C9E91F09BCD2}"/>
              </a:ext>
            </a:extLst>
          </p:cNvPr>
          <p:cNvCxnSpPr>
            <a:cxnSpLocks/>
          </p:cNvCxnSpPr>
          <p:nvPr/>
        </p:nvCxnSpPr>
        <p:spPr>
          <a:xfrm>
            <a:off x="6835928" y="2984281"/>
            <a:ext cx="23355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8C370C-ADD7-2BCF-720E-143648E696BA}"/>
                  </a:ext>
                </a:extLst>
              </p:cNvPr>
              <p:cNvSpPr txBox="1"/>
              <p:nvPr/>
            </p:nvSpPr>
            <p:spPr>
              <a:xfrm>
                <a:off x="6667688" y="2527373"/>
                <a:ext cx="2858090" cy="400110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 {…, </m:t>
                      </m:r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Enc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),…}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78C370C-ADD7-2BCF-720E-143648E69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688" y="2527373"/>
                <a:ext cx="2858090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37A53F5-4242-A8B8-6234-5D4AD989BCE4}"/>
              </a:ext>
            </a:extLst>
          </p:cNvPr>
          <p:cNvCxnSpPr>
            <a:cxnSpLocks/>
          </p:cNvCxnSpPr>
          <p:nvPr/>
        </p:nvCxnSpPr>
        <p:spPr>
          <a:xfrm flipH="1">
            <a:off x="7083672" y="4886534"/>
            <a:ext cx="12720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9ACEFC-5AA7-6E7F-51A2-F020CC4271E6}"/>
                  </a:ext>
                </a:extLst>
              </p:cNvPr>
              <p:cNvSpPr txBox="1"/>
              <p:nvPr/>
            </p:nvSpPr>
            <p:spPr>
              <a:xfrm>
                <a:off x="8596920" y="4208893"/>
                <a:ext cx="3015890" cy="2523768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=</a:t>
                </a:r>
                <a:r>
                  <a:rPr lang="en-US" sz="2800" dirty="0"/>
                  <a:t> PRF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baseline="-250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baseline="-25000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800" i="1" baseline="-25000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US" sz="2800" b="0" i="1" baseline="-25000" dirty="0" smtClean="0">
                            <a:latin typeface="Cambria Math" panose="02040503050406030204" pitchFamily="18" charset="0"/>
                          </a:rPr>
                          <m:t>lient</m:t>
                        </m:r>
                      </m:sub>
                    </m:sSub>
                    <m:r>
                      <a:rPr lang="en-US" sz="28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800" b="0" i="1" dirty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i="1" dirty="0">
                    <a:latin typeface="Cambria Math" panose="02040503050406030204" pitchFamily="18" charset="0"/>
                  </a:rPr>
                  <a:t> </a:t>
                </a:r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k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 mod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endParaRPr lang="en-US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Enc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baseline="-2500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  <a:p>
                <a:endParaRPr lang="en-US" b="0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89ACEFC-5AA7-6E7F-51A2-F020CC427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6920" y="4208893"/>
                <a:ext cx="3015890" cy="2523768"/>
              </a:xfrm>
              <a:prstGeom prst="rect">
                <a:avLst/>
              </a:prstGeom>
              <a:blipFill>
                <a:blip r:embed="rId9"/>
                <a:stretch>
                  <a:fillRect l="-4184" t="-1990" r="-837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0CF1A05-0DE2-4759-403B-2B4FA79E85EF}"/>
                  </a:ext>
                </a:extLst>
              </p:cNvPr>
              <p:cNvSpPr txBox="1"/>
              <p:nvPr/>
            </p:nvSpPr>
            <p:spPr>
              <a:xfrm>
                <a:off x="3861582" y="4662961"/>
                <a:ext cx="2874779" cy="523220"/>
              </a:xfrm>
              <a:prstGeom prst="rect">
                <a:avLst/>
              </a:prstGeom>
              <a:noFill/>
              <a:ln>
                <a:solidFill>
                  <a:schemeClr val="dk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0</m:t>
                      </m:r>
                      <m:r>
                        <m:rPr>
                          <m:lit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/1 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0CF1A05-0DE2-4759-403B-2B4FA79E8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582" y="4662961"/>
                <a:ext cx="2874779" cy="523220"/>
              </a:xfrm>
              <a:prstGeom prst="rect">
                <a:avLst/>
              </a:prstGeom>
              <a:blipFill>
                <a:blip r:embed="rId10"/>
                <a:stretch>
                  <a:fillRect l="-1316" b="-20930"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00A315-84E0-9DF8-F689-964BA00024F7}"/>
                  </a:ext>
                </a:extLst>
              </p:cNvPr>
              <p:cNvSpPr txBox="1"/>
              <p:nvPr/>
            </p:nvSpPr>
            <p:spPr>
              <a:xfrm>
                <a:off x="7522345" y="4327931"/>
                <a:ext cx="488980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00A315-84E0-9DF8-F689-964BA0002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345" y="4327931"/>
                <a:ext cx="48898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6517BD4C-69C2-B46A-8D1F-AC6480247E95}"/>
              </a:ext>
            </a:extLst>
          </p:cNvPr>
          <p:cNvSpPr txBox="1"/>
          <p:nvPr/>
        </p:nvSpPr>
        <p:spPr>
          <a:xfrm>
            <a:off x="10336527" y="6306"/>
            <a:ext cx="151169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Preprocess</a:t>
            </a:r>
          </a:p>
          <a:p>
            <a:r>
              <a:rPr lang="en-US" b="1" dirty="0"/>
              <a:t>  (one-time)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EF8B5C-57E6-4FF5-5C41-FF272544A26D}"/>
              </a:ext>
            </a:extLst>
          </p:cNvPr>
          <p:cNvSpPr txBox="1"/>
          <p:nvPr/>
        </p:nvSpPr>
        <p:spPr>
          <a:xfrm>
            <a:off x="10636824" y="3804219"/>
            <a:ext cx="100412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Search</a:t>
            </a:r>
          </a:p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4212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66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Chakraborti, Anrin</dc:creator>
  <cp:lastModifiedBy>Chakraborti, Anrin</cp:lastModifiedBy>
  <cp:revision>18</cp:revision>
  <dcterms:created xsi:type="dcterms:W3CDTF">2026-06-07T17:05:40Z</dcterms:created>
  <dcterms:modified xsi:type="dcterms:W3CDTF">2026-06-10T19:02:09Z</dcterms:modified>
</cp:coreProperties>
</file>